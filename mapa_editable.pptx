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8288000" cy="11658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mapa_fondo_sin_tex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16586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743200" y="3182112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552444" y="4366259"/>
            <a:ext cx="555955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E.I.O.TOP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336999" y="5765292"/>
            <a:ext cx="309067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04688" y="5808268"/>
            <a:ext cx="473659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E.I.O.SC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65952" y="4904841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79592" y="4474159"/>
            <a:ext cx="54681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I.O.G.M.C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1869" y="4215383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9828" y="3935577"/>
            <a:ext cx="409651" cy="14996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50" b="1" i="1">
                <a:solidFill>
                  <a:srgbClr val="4A6273"/>
                </a:solidFill>
              </a:rPr>
              <a:t>E.I.O.P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523976" y="4401007"/>
            <a:ext cx="905256" cy="2468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Chiapas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18473" y="3649370"/>
            <a:ext cx="1005840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Guerrero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082528" y="4099255"/>
            <a:ext cx="841247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52633"/>
                </a:solidFill>
              </a:rPr>
              <a:t>Oaxaca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472769" y="3167481"/>
            <a:ext cx="1189634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San Pedro y San Pablo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970556" y="3988612"/>
            <a:ext cx="6126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Rio Salinas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93900" y="3607308"/>
            <a:ext cx="65836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Usumacinta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812012" y="4701844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63625" y="3491179"/>
            <a:ext cx="448056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Grijalva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47964" y="3087014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99117" y="3485692"/>
            <a:ext cx="39319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Balsas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504066" y="3308299"/>
            <a:ext cx="652881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Papaloapan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790627" y="3049524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615062" y="3387852"/>
            <a:ext cx="79552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Coatzacoalcos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031321" y="4440326"/>
            <a:ext cx="416052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Atoyac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51261" y="4620463"/>
            <a:ext cx="359359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Verde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995099" y="4276648"/>
            <a:ext cx="720547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Tehuantepec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111435" y="3467404"/>
            <a:ext cx="457200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Mixteco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0908" y="4401921"/>
            <a:ext cx="374904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Nexpa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574268" y="4949647"/>
            <a:ext cx="722376" cy="143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700" b="1" i="1">
                <a:solidFill>
                  <a:srgbClr val="155FA0"/>
                </a:solidFill>
              </a:rPr>
              <a:t>Cuxtepeques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0833811" y="2564891"/>
            <a:ext cx="686714" cy="8439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ectangle 30"/>
          <p:cNvSpPr/>
          <p:nvPr/>
        </p:nvSpPr>
        <p:spPr>
          <a:xfrm>
            <a:off x="9921240" y="2239365"/>
            <a:ext cx="912571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Alemán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53.0% llenado</a:t>
            </a:r>
          </a:p>
        </p:txBody>
      </p:sp>
      <p:cxnSp>
        <p:nvCxnSpPr>
          <p:cNvPr id="32" name="Connector 31"/>
          <p:cNvCxnSpPr/>
          <p:nvPr/>
        </p:nvCxnSpPr>
        <p:spPr>
          <a:xfrm flipV="1">
            <a:off x="11533327" y="3478377"/>
            <a:ext cx="26517" cy="22768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 32"/>
          <p:cNvSpPr/>
          <p:nvPr/>
        </p:nvSpPr>
        <p:spPr>
          <a:xfrm>
            <a:off x="11533327" y="3706063"/>
            <a:ext cx="1196035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Miguel de la Madrid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(Cerro de Oro)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58.3% llenado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11813133" y="4552797"/>
            <a:ext cx="306324" cy="125273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Rectangle 34"/>
          <p:cNvSpPr/>
          <p:nvPr/>
        </p:nvSpPr>
        <p:spPr>
          <a:xfrm>
            <a:off x="10927994" y="4678070"/>
            <a:ext cx="885139" cy="325526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Benito Juárez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69.1% llenado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9996220" y="2932480"/>
            <a:ext cx="663855" cy="75620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ectangle 36"/>
          <p:cNvSpPr/>
          <p:nvPr/>
        </p:nvSpPr>
        <p:spPr>
          <a:xfrm>
            <a:off x="9037929" y="2612440"/>
            <a:ext cx="958291" cy="320040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Yosocuta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102.7% llenado</a:t>
            </a:r>
          </a:p>
        </p:txBody>
      </p:sp>
      <p:cxnSp>
        <p:nvCxnSpPr>
          <p:cNvPr id="38" name="Connector 37"/>
          <p:cNvCxnSpPr/>
          <p:nvPr/>
        </p:nvCxnSpPr>
        <p:spPr>
          <a:xfrm flipV="1">
            <a:off x="9032443" y="4336999"/>
            <a:ext cx="952805" cy="31638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Rectangle 38"/>
          <p:cNvSpPr/>
          <p:nvPr/>
        </p:nvSpPr>
        <p:spPr>
          <a:xfrm>
            <a:off x="7763256" y="4653381"/>
            <a:ext cx="126918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Revolución Mexicana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(El Guineo)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102.4% llenado</a:t>
            </a:r>
          </a:p>
        </p:txBody>
      </p:sp>
      <p:cxnSp>
        <p:nvCxnSpPr>
          <p:cNvPr id="40" name="Connector 39"/>
          <p:cNvCxnSpPr/>
          <p:nvPr/>
        </p:nvCxnSpPr>
        <p:spPr>
          <a:xfrm flipH="1" flipV="1">
            <a:off x="13785494" y="4577486"/>
            <a:ext cx="798271" cy="1965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14583765" y="4326940"/>
            <a:ext cx="1324051" cy="447141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La Angostura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(Belisario Domínguez)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47.85% llenado</a:t>
            </a:r>
          </a:p>
        </p:txBody>
      </p:sp>
      <p:cxnSp>
        <p:nvCxnSpPr>
          <p:cNvPr id="42" name="Connector 41"/>
          <p:cNvCxnSpPr/>
          <p:nvPr/>
        </p:nvCxnSpPr>
        <p:spPr>
          <a:xfrm flipH="1">
            <a:off x="13580668" y="3589020"/>
            <a:ext cx="1127456" cy="628192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ectangle 42"/>
          <p:cNvSpPr/>
          <p:nvPr/>
        </p:nvSpPr>
        <p:spPr>
          <a:xfrm>
            <a:off x="14708124" y="3136392"/>
            <a:ext cx="1429207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Chicoasén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(Manuel Moreno Torres)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97.61% llenado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12923215" y="2947111"/>
            <a:ext cx="350215" cy="1136599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Rectangle 44"/>
          <p:cNvSpPr/>
          <p:nvPr/>
        </p:nvSpPr>
        <p:spPr>
          <a:xfrm>
            <a:off x="11846052" y="2494483"/>
            <a:ext cx="1077163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Malpaso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(Netzahualcóyotl)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57.43% llenado</a:t>
            </a:r>
          </a:p>
        </p:txBody>
      </p:sp>
      <p:cxnSp>
        <p:nvCxnSpPr>
          <p:cNvPr id="46" name="Connector 45"/>
          <p:cNvCxnSpPr/>
          <p:nvPr/>
        </p:nvCxnSpPr>
        <p:spPr>
          <a:xfrm flipH="1">
            <a:off x="13427964" y="3086100"/>
            <a:ext cx="322783" cy="882396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13750747" y="2624328"/>
            <a:ext cx="1260043" cy="461772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Peñitas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(Ángel Albino Corzo)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83.25% llenado</a:t>
            </a:r>
          </a:p>
        </p:txBody>
      </p:sp>
      <p:cxnSp>
        <p:nvCxnSpPr>
          <p:cNvPr id="48" name="Connector 47"/>
          <p:cNvCxnSpPr/>
          <p:nvPr/>
        </p:nvCxnSpPr>
        <p:spPr>
          <a:xfrm flipH="1" flipV="1">
            <a:off x="13698626" y="4885639"/>
            <a:ext cx="626364" cy="126187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Rectangle 48"/>
          <p:cNvSpPr/>
          <p:nvPr/>
        </p:nvSpPr>
        <p:spPr>
          <a:xfrm>
            <a:off x="14324990" y="5011826"/>
            <a:ext cx="95829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El Portillo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(Juan Sabines)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60.01% llenado</a:t>
            </a:r>
          </a:p>
        </p:txBody>
      </p:sp>
      <p:cxnSp>
        <p:nvCxnSpPr>
          <p:cNvPr id="50" name="Connector 49"/>
          <p:cNvCxnSpPr/>
          <p:nvPr/>
        </p:nvCxnSpPr>
        <p:spPr>
          <a:xfrm flipV="1">
            <a:off x="12741249" y="4483303"/>
            <a:ext cx="374904" cy="1332281"/>
          </a:xfrm>
          <a:prstGeom prst="line">
            <a:avLst/>
          </a:prstGeom>
          <a:ln w="17780">
            <a:solidFill>
              <a:srgbClr val="C23B2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ectangle 50"/>
          <p:cNvSpPr/>
          <p:nvPr/>
        </p:nvSpPr>
        <p:spPr>
          <a:xfrm>
            <a:off x="12741249" y="5815584"/>
            <a:ext cx="1004011" cy="452628"/>
          </a:xfrm>
          <a:prstGeom prst="rect">
            <a:avLst/>
          </a:prstGeom>
          <a:solidFill>
            <a:srgbClr val="DCEAF2"/>
          </a:solidFill>
          <a:ln w="13970">
            <a:solidFill>
              <a:srgbClr val="C23B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800" b="1">
                <a:solidFill>
                  <a:srgbClr val="152633"/>
                </a:solidFill>
              </a:rPr>
              <a:t>Rosendo Salazar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(Tolán)</a:t>
            </a:r>
          </a:p>
          <a:p>
            <a:pPr algn="ctr"/>
            <a:r>
              <a:rPr sz="800" b="1">
                <a:solidFill>
                  <a:srgbClr val="152633"/>
                </a:solidFill>
              </a:rPr>
              <a:t>44.7% llenado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152936" y="2378354"/>
            <a:ext cx="1008583" cy="3758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 Veracruz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3114324" y="1900123"/>
            <a:ext cx="1124712" cy="132862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RN-3 Dos Bocas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429853" y="4295851"/>
            <a:ext cx="1024128" cy="27340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RN-8 Acapulco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2054535" y="4763109"/>
            <a:ext cx="1252728" cy="50017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C23B2C"/>
                </a:solidFill>
              </a:rPr>
              <a:t>RN-10 Salina Cruz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714378" y="4983480"/>
            <a:ext cx="914400" cy="3995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ZN-20 Huatulco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4045184" y="5661964"/>
            <a:ext cx="1548993" cy="55778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750" b="1" i="0">
                <a:solidFill>
                  <a:srgbClr val="A8432F"/>
                </a:solidFill>
              </a:rPr>
              <a:t>ZN-22 Puerto Chiapas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53251" y="6507784"/>
            <a:ext cx="6038697" cy="21396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152633"/>
                </a:solidFill>
              </a:rPr>
              <a:t>COMPARATIVO DE % DE LLENADO — REPORTE ANTERIOR VS. ACTUAL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80283" y="6790334"/>
            <a:ext cx="43891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152633"/>
                </a:solidFill>
              </a:rPr>
              <a:t>Presa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17612" y="6790334"/>
            <a:ext cx="206654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anterior (13/10/2026)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745675" y="6790334"/>
            <a:ext cx="1947672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Reporte actual (14/10/2026)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2707416" y="6790334"/>
            <a:ext cx="55778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Cambio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4857171" y="6790334"/>
            <a:ext cx="512064" cy="17556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152633"/>
                </a:solidFill>
              </a:rPr>
              <a:t>Estado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180283" y="6998817"/>
            <a:ext cx="978408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Alemán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80283" y="7105802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04627" y="7056424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53.0%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4842540" y="7061911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46059" y="7056424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52.8%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2721132" y="7056424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+0.20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180283" y="7290511"/>
            <a:ext cx="220370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Miguel de la Madrid (Cerro de Oro)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3180283" y="7397496"/>
            <a:ext cx="113019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Papaloapan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504627" y="7349032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58.3%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4842540" y="7353604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246059" y="7349032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58.3%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2626035" y="7339888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180283" y="7583119"/>
            <a:ext cx="87782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Benito Juárez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80283" y="7689189"/>
            <a:ext cx="1183233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Tehuantepec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504627" y="7640726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69.1%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4842540" y="764529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246059" y="7640726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68.8%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2721132" y="7640726"/>
            <a:ext cx="53035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B5FA8"/>
                </a:solidFill>
              </a:rPr>
              <a:t>▲ +0.30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180283" y="7883956"/>
            <a:ext cx="611733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Yosocuta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180283" y="7989112"/>
            <a:ext cx="960120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Oaxaca · Río Mixteco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468051" y="793242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102.7%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4867229" y="7937906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8209483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103.1%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2744907" y="793242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B3541F"/>
                </a:solidFill>
              </a:rPr>
              <a:t>▼ -0.40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180283" y="8166506"/>
            <a:ext cx="2066544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Revolución Mexicana (El Guineo)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80283" y="8280806"/>
            <a:ext cx="961948" cy="14081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Guerrero · Río Nexpa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0468051" y="8225028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102.4%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4867229" y="8229600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209483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104.1%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2744907" y="8225028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B3541F"/>
                </a:solidFill>
              </a:rPr>
              <a:t>▼ -1.70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180283" y="8459114"/>
            <a:ext cx="228600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La Angostura (Belisario Domínguez)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180283" y="8565184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468051" y="8516721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47.85%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4842540" y="8521293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209483" y="8516721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47.85%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2626035" y="8507577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180283" y="8750808"/>
            <a:ext cx="2189073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Chicoasén (Manuel Moreno Torres)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3180283" y="8857792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10468051" y="8808415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97.61%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4867229" y="8813901"/>
            <a:ext cx="490118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A50E0E"/>
                </a:solidFill>
              </a:rPr>
              <a:t>ALERTA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09483" y="8808415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97.61%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2626035" y="8799271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3180283" y="9042501"/>
            <a:ext cx="1700784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Malpaso (Netzahualcóyotl)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180283" y="9149486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468051" y="9101023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57.43%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4842540" y="9105595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209483" y="9101023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57.43%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2626035" y="9091879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3180283" y="9325965"/>
            <a:ext cx="1819656" cy="1828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Peñitas (Ángel Albino Corzo)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180283" y="9441180"/>
            <a:ext cx="9875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Grijalva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468051" y="9392716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83.25%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4842540" y="9397288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209483" y="9392716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83.25%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2626035" y="9383572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3180283" y="9626803"/>
            <a:ext cx="158191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El Portillo (Juan Sabines)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3180283" y="9733788"/>
            <a:ext cx="1216152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Cuxtepeques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0468051" y="9684410"/>
            <a:ext cx="50292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60.01%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14842540" y="9689896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8209483" y="9684410"/>
            <a:ext cx="484632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60.01%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626035" y="9675266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3180283" y="9918496"/>
            <a:ext cx="1530705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 i="0">
                <a:solidFill>
                  <a:srgbClr val="152633"/>
                </a:solidFill>
              </a:rPr>
              <a:t>Rosendo Salazar (Tolán)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3180283" y="10025481"/>
            <a:ext cx="1069848" cy="14904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680" b="0" i="0">
                <a:solidFill>
                  <a:srgbClr val="4A6273"/>
                </a:solidFill>
              </a:rPr>
              <a:t>Chiapas · Río Cintalapa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10504627" y="9977018"/>
            <a:ext cx="429768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152633"/>
                </a:solidFill>
              </a:rPr>
              <a:t>44.7%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4842540" y="9981590"/>
            <a:ext cx="539496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00" b="1" i="0">
                <a:solidFill>
                  <a:srgbClr val="1E7E34"/>
                </a:solidFill>
              </a:rPr>
              <a:t>NORMAL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246059" y="9977018"/>
            <a:ext cx="411480" cy="16276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0" i="0">
                <a:solidFill>
                  <a:srgbClr val="4A6273"/>
                </a:solidFill>
              </a:rPr>
              <a:t>44.7%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2626035" y="9967874"/>
            <a:ext cx="7223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850" b="1" i="0">
                <a:solidFill>
                  <a:srgbClr val="4A6273"/>
                </a:solidFill>
              </a:rPr>
              <a:t>sin cambio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3214116" y="89611"/>
            <a:ext cx="11859768" cy="33192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900" b="1" i="0">
                <a:solidFill>
                  <a:srgbClr val="152633"/>
                </a:solidFill>
              </a:rPr>
              <a:t>ZONA JURISDICCIONAL ESTACIÓN DE INVESTIGACIÓN OCEANOGRÁFICA DE SALINA CRUZ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791809" y="544068"/>
            <a:ext cx="6705295" cy="22219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52633"/>
                </a:solidFill>
              </a:rPr>
              <a:t>(DESDE EL MORRO PAPANOA, GRO. ↔ PUERTO MADERO, CHIAPAS, CHIS.)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577339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1E7E34"/>
                </a:solidFill>
              </a:rPr>
              <a:t>8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1243584" y="1491386"/>
            <a:ext cx="859536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1E7E34"/>
                </a:solidFill>
              </a:rPr>
              <a:t>NORMAL (0–89%)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3534156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8A6D00"/>
                </a:solidFill>
              </a:rPr>
              <a:t>0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3073298" y="1486814"/>
            <a:ext cx="1112824" cy="1563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8A6D00"/>
                </a:solidFill>
              </a:rPr>
              <a:t>PRECAUCIÓN (90–94%)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5490972" y="1231696"/>
            <a:ext cx="192024" cy="2450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A50E0E"/>
                </a:solidFill>
              </a:rPr>
              <a:t>3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5202936" y="1491386"/>
            <a:ext cx="767181" cy="14721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630" b="1" i="0">
                <a:solidFill>
                  <a:srgbClr val="A50E0E"/>
                </a:solidFill>
              </a:rPr>
              <a:t>ALERTA (95%+)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4002328" y="10717682"/>
            <a:ext cx="1584655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Guerrero / Oaxaca / Chiapas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4002328" y="10890504"/>
            <a:ext cx="90525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principales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6049670" y="10717682"/>
            <a:ext cx="1834286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Ríos de presas (recorrido aprox.)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049670" y="10890504"/>
            <a:ext cx="1301191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normal (0–89%)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8347557" y="10717682"/>
            <a:ext cx="1602943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precaución (90–94%)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8347557" y="10890504"/>
            <a:ext cx="1193292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Presa: alerta (95%+)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414101" y="10717682"/>
            <a:ext cx="15316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Sede de Región Naval (RN)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14101" y="10890504"/>
            <a:ext cx="950976" cy="171907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Zona Naval (ZN)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2408408" y="10717682"/>
            <a:ext cx="1995220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RN-8 Acapulco (aprox.)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12408408" y="10890504"/>
            <a:ext cx="2179929" cy="17373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152633"/>
                </a:solidFill>
              </a:rPr>
              <a:t>Jurisdicción RN-10 Salina Cruz (aprox.)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