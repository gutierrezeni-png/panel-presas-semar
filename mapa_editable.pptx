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1658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pa_fondo_sin_tex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1658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3182112"/>
            <a:ext cx="409651" cy="1499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1">
                <a:solidFill>
                  <a:srgbClr val="4A6273"/>
                </a:solidFill>
              </a:rPr>
              <a:t>E.I.O.E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52444" y="4366259"/>
            <a:ext cx="555955" cy="1499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1">
                <a:solidFill>
                  <a:srgbClr val="4A6273"/>
                </a:solidFill>
              </a:rPr>
              <a:t>E.I.O.TOP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36999" y="5765292"/>
            <a:ext cx="309067" cy="1499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1">
                <a:solidFill>
                  <a:srgbClr val="4A6273"/>
                </a:solidFill>
              </a:rPr>
              <a:t>I.O.P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04688" y="5808268"/>
            <a:ext cx="473659" cy="1499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1">
                <a:solidFill>
                  <a:srgbClr val="4A6273"/>
                </a:solidFill>
              </a:rPr>
              <a:t>E.I.O.SC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65952" y="4904841"/>
            <a:ext cx="409651" cy="1499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1">
                <a:solidFill>
                  <a:srgbClr val="4A6273"/>
                </a:solidFill>
              </a:rPr>
              <a:t>E.I.O.T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79592" y="4474159"/>
            <a:ext cx="546811" cy="1499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1">
                <a:solidFill>
                  <a:srgbClr val="4A6273"/>
                </a:solidFill>
              </a:rPr>
              <a:t>I.O.G.M.C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1869" y="4215383"/>
            <a:ext cx="409651" cy="1499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1">
                <a:solidFill>
                  <a:srgbClr val="4A6273"/>
                </a:solidFill>
              </a:rPr>
              <a:t>E.I.O.C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9828" y="3935577"/>
            <a:ext cx="409651" cy="1499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1">
                <a:solidFill>
                  <a:srgbClr val="4A6273"/>
                </a:solidFill>
              </a:rPr>
              <a:t>E.I.O.P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23976" y="4401007"/>
            <a:ext cx="905256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52633"/>
                </a:solidFill>
              </a:rPr>
              <a:t>Chiapas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8473" y="3649370"/>
            <a:ext cx="1005840" cy="245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52633"/>
                </a:solidFill>
              </a:rPr>
              <a:t>Guerrero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82528" y="4099255"/>
            <a:ext cx="841247" cy="245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52633"/>
                </a:solidFill>
              </a:rPr>
              <a:t>Oaxaca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72769" y="3167481"/>
            <a:ext cx="1189634" cy="149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1">
                <a:solidFill>
                  <a:srgbClr val="155FA0"/>
                </a:solidFill>
              </a:rPr>
              <a:t>San Pedro y San Pablo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70556" y="3988612"/>
            <a:ext cx="612647" cy="149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1">
                <a:solidFill>
                  <a:srgbClr val="155FA0"/>
                </a:solidFill>
              </a:rPr>
              <a:t>Rio Salinas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93900" y="3607308"/>
            <a:ext cx="658368" cy="149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1">
                <a:solidFill>
                  <a:srgbClr val="155FA0"/>
                </a:solidFill>
              </a:rPr>
              <a:t>Usumacinta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12012" y="4701844"/>
            <a:ext cx="448056" cy="149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1">
                <a:solidFill>
                  <a:srgbClr val="155FA0"/>
                </a:solidFill>
              </a:rPr>
              <a:t>Grijalva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3625" y="3491179"/>
            <a:ext cx="448056" cy="149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1">
                <a:solidFill>
                  <a:srgbClr val="155FA0"/>
                </a:solidFill>
              </a:rPr>
              <a:t>Grijalva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47964" y="3087014"/>
            <a:ext cx="393192" cy="149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1">
                <a:solidFill>
                  <a:srgbClr val="155FA0"/>
                </a:solidFill>
              </a:rPr>
              <a:t>Balsas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9117" y="3485692"/>
            <a:ext cx="393192" cy="149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1">
                <a:solidFill>
                  <a:srgbClr val="155FA0"/>
                </a:solidFill>
              </a:rPr>
              <a:t>Balsas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04066" y="3308299"/>
            <a:ext cx="652881" cy="149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1">
                <a:solidFill>
                  <a:srgbClr val="155FA0"/>
                </a:solidFill>
              </a:rPr>
              <a:t>Papaloapan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90627" y="3049524"/>
            <a:ext cx="795528" cy="149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1">
                <a:solidFill>
                  <a:srgbClr val="155FA0"/>
                </a:solidFill>
              </a:rPr>
              <a:t>Coatzacoalcos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5062" y="3387852"/>
            <a:ext cx="795528" cy="149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1">
                <a:solidFill>
                  <a:srgbClr val="155FA0"/>
                </a:solidFill>
              </a:rPr>
              <a:t>Coatzacoalcos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31321" y="4440326"/>
            <a:ext cx="416052" cy="143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1">
                <a:solidFill>
                  <a:srgbClr val="155FA0"/>
                </a:solidFill>
              </a:rPr>
              <a:t>Atoyac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51261" y="4620463"/>
            <a:ext cx="359359" cy="149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1">
                <a:solidFill>
                  <a:srgbClr val="155FA0"/>
                </a:solidFill>
              </a:rPr>
              <a:t>Verde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95099" y="4276648"/>
            <a:ext cx="720547" cy="149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1">
                <a:solidFill>
                  <a:srgbClr val="155FA0"/>
                </a:solidFill>
              </a:rPr>
              <a:t>Tehuantepec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11435" y="3467404"/>
            <a:ext cx="457200" cy="149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1">
                <a:solidFill>
                  <a:srgbClr val="155FA0"/>
                </a:solidFill>
              </a:rPr>
              <a:t>Mixteco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0908" y="4401921"/>
            <a:ext cx="374904" cy="143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1">
                <a:solidFill>
                  <a:srgbClr val="155FA0"/>
                </a:solidFill>
              </a:rPr>
              <a:t>Nexpa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74268" y="4949647"/>
            <a:ext cx="722376" cy="143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 b="1" i="1">
                <a:solidFill>
                  <a:srgbClr val="155FA0"/>
                </a:solidFill>
              </a:rPr>
              <a:t>Cuxtepeques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833811" y="2564891"/>
            <a:ext cx="686714" cy="843992"/>
          </a:xfrm>
          <a:prstGeom prst="line">
            <a:avLst/>
          </a:prstGeom>
          <a:ln w="17780">
            <a:solidFill>
              <a:srgbClr val="C23B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921240" y="2239365"/>
            <a:ext cx="912571" cy="325526"/>
          </a:xfrm>
          <a:prstGeom prst="rect">
            <a:avLst/>
          </a:prstGeom>
          <a:solidFill>
            <a:srgbClr val="DCEAF2"/>
          </a:solidFill>
          <a:ln w="13970">
            <a:solidFill>
              <a:srgbClr val="C23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152633"/>
                </a:solidFill>
              </a:rPr>
              <a:t>Miguel Alemán</a:t>
            </a:r>
          </a:p>
          <a:p>
            <a:pPr algn="ctr"/>
            <a:r>
              <a:rPr sz="800" b="1">
                <a:solidFill>
                  <a:srgbClr val="152633"/>
                </a:solidFill>
              </a:rPr>
              <a:t>52.8% llenado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1533327" y="3478377"/>
            <a:ext cx="26517" cy="227686"/>
          </a:xfrm>
          <a:prstGeom prst="line">
            <a:avLst/>
          </a:prstGeom>
          <a:ln w="17780">
            <a:solidFill>
              <a:srgbClr val="C23B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1533327" y="3706063"/>
            <a:ext cx="1196035" cy="452628"/>
          </a:xfrm>
          <a:prstGeom prst="rect">
            <a:avLst/>
          </a:prstGeom>
          <a:solidFill>
            <a:srgbClr val="DCEAF2"/>
          </a:solidFill>
          <a:ln w="13970">
            <a:solidFill>
              <a:srgbClr val="C23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152633"/>
                </a:solidFill>
              </a:rPr>
              <a:t>Miguel de la Madrid</a:t>
            </a:r>
          </a:p>
          <a:p>
            <a:pPr algn="ctr"/>
            <a:r>
              <a:rPr sz="800" b="1">
                <a:solidFill>
                  <a:srgbClr val="152633"/>
                </a:solidFill>
              </a:rPr>
              <a:t>(Cerro de Oro)</a:t>
            </a:r>
          </a:p>
          <a:p>
            <a:pPr algn="ctr"/>
            <a:r>
              <a:rPr sz="800" b="1">
                <a:solidFill>
                  <a:srgbClr val="152633"/>
                </a:solidFill>
              </a:rPr>
              <a:t>58.3% llenado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1813133" y="4552797"/>
            <a:ext cx="306324" cy="125273"/>
          </a:xfrm>
          <a:prstGeom prst="line">
            <a:avLst/>
          </a:prstGeom>
          <a:ln w="17780">
            <a:solidFill>
              <a:srgbClr val="C23B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0927994" y="4678070"/>
            <a:ext cx="885139" cy="325526"/>
          </a:xfrm>
          <a:prstGeom prst="rect">
            <a:avLst/>
          </a:prstGeom>
          <a:solidFill>
            <a:srgbClr val="DCEAF2"/>
          </a:solidFill>
          <a:ln w="13970">
            <a:solidFill>
              <a:srgbClr val="C23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152633"/>
                </a:solidFill>
              </a:rPr>
              <a:t>Benito Juárez</a:t>
            </a:r>
          </a:p>
          <a:p>
            <a:pPr algn="ctr"/>
            <a:r>
              <a:rPr sz="800" b="1">
                <a:solidFill>
                  <a:srgbClr val="152633"/>
                </a:solidFill>
              </a:rPr>
              <a:t>68.8% llenado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996220" y="2932480"/>
            <a:ext cx="663855" cy="756209"/>
          </a:xfrm>
          <a:prstGeom prst="line">
            <a:avLst/>
          </a:prstGeom>
          <a:ln w="17780">
            <a:solidFill>
              <a:srgbClr val="C23B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037929" y="2612440"/>
            <a:ext cx="958291" cy="320040"/>
          </a:xfrm>
          <a:prstGeom prst="rect">
            <a:avLst/>
          </a:prstGeom>
          <a:solidFill>
            <a:srgbClr val="DCEAF2"/>
          </a:solidFill>
          <a:ln w="13970">
            <a:solidFill>
              <a:srgbClr val="C23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152633"/>
                </a:solidFill>
              </a:rPr>
              <a:t>Yosocuta</a:t>
            </a:r>
          </a:p>
          <a:p>
            <a:pPr algn="ctr"/>
            <a:r>
              <a:rPr sz="800" b="1">
                <a:solidFill>
                  <a:srgbClr val="152633"/>
                </a:solidFill>
              </a:rPr>
              <a:t>103.1% llenado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9032443" y="4336999"/>
            <a:ext cx="952805" cy="316382"/>
          </a:xfrm>
          <a:prstGeom prst="line">
            <a:avLst/>
          </a:prstGeom>
          <a:ln w="17780">
            <a:solidFill>
              <a:srgbClr val="C23B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7763256" y="4653381"/>
            <a:ext cx="1269187" cy="452628"/>
          </a:xfrm>
          <a:prstGeom prst="rect">
            <a:avLst/>
          </a:prstGeom>
          <a:solidFill>
            <a:srgbClr val="DCEAF2"/>
          </a:solidFill>
          <a:ln w="13970">
            <a:solidFill>
              <a:srgbClr val="C23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152633"/>
                </a:solidFill>
              </a:rPr>
              <a:t>Revolución Mexicana</a:t>
            </a:r>
          </a:p>
          <a:p>
            <a:pPr algn="ctr"/>
            <a:r>
              <a:rPr sz="800" b="1">
                <a:solidFill>
                  <a:srgbClr val="152633"/>
                </a:solidFill>
              </a:rPr>
              <a:t>(El Guineo)</a:t>
            </a:r>
          </a:p>
          <a:p>
            <a:pPr algn="ctr"/>
            <a:r>
              <a:rPr sz="800" b="1">
                <a:solidFill>
                  <a:srgbClr val="152633"/>
                </a:solidFill>
              </a:rPr>
              <a:t>104.1% llenado</a:t>
            </a:r>
          </a:p>
        </p:txBody>
      </p:sp>
      <p:cxnSp>
        <p:nvCxnSpPr>
          <p:cNvPr id="40" name="Connector 39"/>
          <p:cNvCxnSpPr/>
          <p:nvPr/>
        </p:nvCxnSpPr>
        <p:spPr>
          <a:xfrm flipH="1" flipV="1">
            <a:off x="13785494" y="4577486"/>
            <a:ext cx="798271" cy="196596"/>
          </a:xfrm>
          <a:prstGeom prst="line">
            <a:avLst/>
          </a:prstGeom>
          <a:ln w="17780">
            <a:solidFill>
              <a:srgbClr val="C23B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4583765" y="4326940"/>
            <a:ext cx="1324051" cy="447141"/>
          </a:xfrm>
          <a:prstGeom prst="rect">
            <a:avLst/>
          </a:prstGeom>
          <a:solidFill>
            <a:srgbClr val="DCEAF2"/>
          </a:solidFill>
          <a:ln w="13970">
            <a:solidFill>
              <a:srgbClr val="C23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152633"/>
                </a:solidFill>
              </a:rPr>
              <a:t>La Angostura</a:t>
            </a:r>
          </a:p>
          <a:p>
            <a:pPr algn="ctr"/>
            <a:r>
              <a:rPr sz="800" b="1">
                <a:solidFill>
                  <a:srgbClr val="152633"/>
                </a:solidFill>
              </a:rPr>
              <a:t>(Belisario Domínguez)</a:t>
            </a:r>
          </a:p>
          <a:p>
            <a:pPr algn="ctr"/>
            <a:r>
              <a:rPr sz="800" b="1">
                <a:solidFill>
                  <a:srgbClr val="152633"/>
                </a:solidFill>
              </a:rPr>
              <a:t>47.85% llenado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13580668" y="3589020"/>
            <a:ext cx="1127456" cy="628192"/>
          </a:xfrm>
          <a:prstGeom prst="line">
            <a:avLst/>
          </a:prstGeom>
          <a:ln w="17780">
            <a:solidFill>
              <a:srgbClr val="C23B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4708124" y="3136392"/>
            <a:ext cx="1429207" cy="452628"/>
          </a:xfrm>
          <a:prstGeom prst="rect">
            <a:avLst/>
          </a:prstGeom>
          <a:solidFill>
            <a:srgbClr val="DCEAF2"/>
          </a:solidFill>
          <a:ln w="13970">
            <a:solidFill>
              <a:srgbClr val="C23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152633"/>
                </a:solidFill>
              </a:rPr>
              <a:t>Chicoasén</a:t>
            </a:r>
          </a:p>
          <a:p>
            <a:pPr algn="ctr"/>
            <a:r>
              <a:rPr sz="800" b="1">
                <a:solidFill>
                  <a:srgbClr val="152633"/>
                </a:solidFill>
              </a:rPr>
              <a:t>(Manuel Moreno Torres)</a:t>
            </a:r>
          </a:p>
          <a:p>
            <a:pPr algn="ctr"/>
            <a:r>
              <a:rPr sz="800" b="1">
                <a:solidFill>
                  <a:srgbClr val="152633"/>
                </a:solidFill>
              </a:rPr>
              <a:t>97.61% llenado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2923215" y="2947111"/>
            <a:ext cx="350215" cy="1136599"/>
          </a:xfrm>
          <a:prstGeom prst="line">
            <a:avLst/>
          </a:prstGeom>
          <a:ln w="17780">
            <a:solidFill>
              <a:srgbClr val="C23B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11846052" y="2494483"/>
            <a:ext cx="1077163" cy="452628"/>
          </a:xfrm>
          <a:prstGeom prst="rect">
            <a:avLst/>
          </a:prstGeom>
          <a:solidFill>
            <a:srgbClr val="DCEAF2"/>
          </a:solidFill>
          <a:ln w="13970">
            <a:solidFill>
              <a:srgbClr val="C23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152633"/>
                </a:solidFill>
              </a:rPr>
              <a:t>Malpaso</a:t>
            </a:r>
          </a:p>
          <a:p>
            <a:pPr algn="ctr"/>
            <a:r>
              <a:rPr sz="800" b="1">
                <a:solidFill>
                  <a:srgbClr val="152633"/>
                </a:solidFill>
              </a:rPr>
              <a:t>(Netzahualcóyotl)</a:t>
            </a:r>
          </a:p>
          <a:p>
            <a:pPr algn="ctr"/>
            <a:r>
              <a:rPr sz="800" b="1">
                <a:solidFill>
                  <a:srgbClr val="152633"/>
                </a:solidFill>
              </a:rPr>
              <a:t>57.43% llenado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13427964" y="3086100"/>
            <a:ext cx="322783" cy="882396"/>
          </a:xfrm>
          <a:prstGeom prst="line">
            <a:avLst/>
          </a:prstGeom>
          <a:ln w="17780">
            <a:solidFill>
              <a:srgbClr val="C23B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13750747" y="2624328"/>
            <a:ext cx="1260043" cy="461772"/>
          </a:xfrm>
          <a:prstGeom prst="rect">
            <a:avLst/>
          </a:prstGeom>
          <a:solidFill>
            <a:srgbClr val="DCEAF2"/>
          </a:solidFill>
          <a:ln w="13970">
            <a:solidFill>
              <a:srgbClr val="C23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152633"/>
                </a:solidFill>
              </a:rPr>
              <a:t>Peñitas</a:t>
            </a:r>
          </a:p>
          <a:p>
            <a:pPr algn="ctr"/>
            <a:r>
              <a:rPr sz="800" b="1">
                <a:solidFill>
                  <a:srgbClr val="152633"/>
                </a:solidFill>
              </a:rPr>
              <a:t>(Ángel Albino Corzo)</a:t>
            </a:r>
          </a:p>
          <a:p>
            <a:pPr algn="ctr"/>
            <a:r>
              <a:rPr sz="800" b="1">
                <a:solidFill>
                  <a:srgbClr val="152633"/>
                </a:solidFill>
              </a:rPr>
              <a:t>83.25% llenado</a:t>
            </a:r>
          </a:p>
        </p:txBody>
      </p:sp>
      <p:cxnSp>
        <p:nvCxnSpPr>
          <p:cNvPr id="48" name="Connector 47"/>
          <p:cNvCxnSpPr/>
          <p:nvPr/>
        </p:nvCxnSpPr>
        <p:spPr>
          <a:xfrm flipH="1" flipV="1">
            <a:off x="13698626" y="4885639"/>
            <a:ext cx="626364" cy="126187"/>
          </a:xfrm>
          <a:prstGeom prst="line">
            <a:avLst/>
          </a:prstGeom>
          <a:ln w="17780">
            <a:solidFill>
              <a:srgbClr val="C23B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4324990" y="5011826"/>
            <a:ext cx="958291" cy="452628"/>
          </a:xfrm>
          <a:prstGeom prst="rect">
            <a:avLst/>
          </a:prstGeom>
          <a:solidFill>
            <a:srgbClr val="DCEAF2"/>
          </a:solidFill>
          <a:ln w="13970">
            <a:solidFill>
              <a:srgbClr val="C23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152633"/>
                </a:solidFill>
              </a:rPr>
              <a:t>El Portillo</a:t>
            </a:r>
          </a:p>
          <a:p>
            <a:pPr algn="ctr"/>
            <a:r>
              <a:rPr sz="800" b="1">
                <a:solidFill>
                  <a:srgbClr val="152633"/>
                </a:solidFill>
              </a:rPr>
              <a:t>(Juan Sabines)</a:t>
            </a:r>
          </a:p>
          <a:p>
            <a:pPr algn="ctr"/>
            <a:r>
              <a:rPr sz="800" b="1">
                <a:solidFill>
                  <a:srgbClr val="152633"/>
                </a:solidFill>
              </a:rPr>
              <a:t>60.01% llenado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12741249" y="4483303"/>
            <a:ext cx="374904" cy="1332281"/>
          </a:xfrm>
          <a:prstGeom prst="line">
            <a:avLst/>
          </a:prstGeom>
          <a:ln w="17780">
            <a:solidFill>
              <a:srgbClr val="C23B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12741249" y="5815584"/>
            <a:ext cx="1004011" cy="452628"/>
          </a:xfrm>
          <a:prstGeom prst="rect">
            <a:avLst/>
          </a:prstGeom>
          <a:solidFill>
            <a:srgbClr val="DCEAF2"/>
          </a:solidFill>
          <a:ln w="13970">
            <a:solidFill>
              <a:srgbClr val="C23B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1">
                <a:solidFill>
                  <a:srgbClr val="152633"/>
                </a:solidFill>
              </a:rPr>
              <a:t>Rosendo Salazar</a:t>
            </a:r>
          </a:p>
          <a:p>
            <a:pPr algn="ctr"/>
            <a:r>
              <a:rPr sz="800" b="1">
                <a:solidFill>
                  <a:srgbClr val="152633"/>
                </a:solidFill>
              </a:rPr>
              <a:t>(Tolán)</a:t>
            </a:r>
          </a:p>
          <a:p>
            <a:pPr algn="ctr"/>
            <a:r>
              <a:rPr sz="800" b="1">
                <a:solidFill>
                  <a:srgbClr val="152633"/>
                </a:solidFill>
              </a:rPr>
              <a:t>44.7% llenado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2936" y="2378354"/>
            <a:ext cx="1008583" cy="3758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C23B2C"/>
                </a:solidFill>
              </a:rPr>
              <a:t>RN-1 Veracruz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114324" y="1900123"/>
            <a:ext cx="1124712" cy="13286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C23B2C"/>
                </a:solidFill>
              </a:rPr>
              <a:t>RN-3 Dos Bocas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29853" y="4295851"/>
            <a:ext cx="1024128" cy="2734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C23B2C"/>
                </a:solidFill>
              </a:rPr>
              <a:t>RN-8 Acapulco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054535" y="4763109"/>
            <a:ext cx="1252728" cy="500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C23B2C"/>
                </a:solidFill>
              </a:rPr>
              <a:t>RN-10 Salina Cruz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714378" y="4983480"/>
            <a:ext cx="914400" cy="399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A8432F"/>
                </a:solidFill>
              </a:rPr>
              <a:t>ZN-20 Huatulco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045184" y="5661964"/>
            <a:ext cx="1548993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A8432F"/>
                </a:solidFill>
              </a:rPr>
              <a:t>ZN-22 Puerto Chiapas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3251" y="6507784"/>
            <a:ext cx="6038697" cy="213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52633"/>
                </a:solidFill>
              </a:rPr>
              <a:t>COMPARATIVO DE % DE LLENADO — REPORTE ANTERIOR VS. ACTUAL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80283" y="6790334"/>
            <a:ext cx="438912" cy="1755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52633"/>
                </a:solidFill>
              </a:rPr>
              <a:t>Presa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17612" y="6790334"/>
            <a:ext cx="2066544" cy="1755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52633"/>
                </a:solidFill>
              </a:rPr>
              <a:t>Reporte anterior (11/10/2026)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45675" y="6790334"/>
            <a:ext cx="1947672" cy="1755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52633"/>
                </a:solidFill>
              </a:rPr>
              <a:t>Reporte actual (12/10/2026)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707416" y="6790334"/>
            <a:ext cx="557784" cy="1755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52633"/>
                </a:solidFill>
              </a:rPr>
              <a:t>Cambio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857171" y="6790334"/>
            <a:ext cx="512064" cy="1755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52633"/>
                </a:solidFill>
              </a:rPr>
              <a:t>Estado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80283" y="6998817"/>
            <a:ext cx="978408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2633"/>
                </a:solidFill>
              </a:rPr>
              <a:t>Miguel Alemán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80283" y="7105802"/>
            <a:ext cx="1130198" cy="149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4A6273"/>
                </a:solidFill>
              </a:rPr>
              <a:t>Oaxaca · Río Papaloapan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04627" y="7056424"/>
            <a:ext cx="429768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52633"/>
                </a:solidFill>
              </a:rPr>
              <a:t>52.8%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4842540" y="7061911"/>
            <a:ext cx="539496" cy="1563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7E34"/>
                </a:solidFill>
              </a:rPr>
              <a:t>NORMAL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46059" y="7056424"/>
            <a:ext cx="411480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6273"/>
                </a:solidFill>
              </a:rPr>
              <a:t>50.4%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721132" y="7056424"/>
            <a:ext cx="530352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B5FA8"/>
                </a:solidFill>
              </a:rPr>
              <a:t>▲ +2.40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80283" y="7290511"/>
            <a:ext cx="2203704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2633"/>
                </a:solidFill>
              </a:rPr>
              <a:t>Miguel de la Madrid (Cerro de Oro)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80283" y="7397496"/>
            <a:ext cx="1130198" cy="149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4A6273"/>
                </a:solidFill>
              </a:rPr>
              <a:t>Oaxaca · Río Papaloapan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04627" y="7349032"/>
            <a:ext cx="429768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52633"/>
                </a:solidFill>
              </a:rPr>
              <a:t>58.3%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842540" y="7353604"/>
            <a:ext cx="539496" cy="1563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7E34"/>
                </a:solidFill>
              </a:rPr>
              <a:t>NORMAL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46059" y="7349032"/>
            <a:ext cx="411480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6273"/>
                </a:solidFill>
              </a:rPr>
              <a:t>56.1%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721132" y="7349032"/>
            <a:ext cx="530352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B5FA8"/>
                </a:solidFill>
              </a:rPr>
              <a:t>▲ +2.20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80283" y="7583119"/>
            <a:ext cx="877824" cy="1719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2633"/>
                </a:solidFill>
              </a:rPr>
              <a:t>Benito Juárez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80283" y="7689189"/>
            <a:ext cx="1183233" cy="149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4A6273"/>
                </a:solidFill>
              </a:rPr>
              <a:t>Oaxaca · Río Tehuantepec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04627" y="7640726"/>
            <a:ext cx="429768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52633"/>
                </a:solidFill>
              </a:rPr>
              <a:t>68.8%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4842540" y="7645298"/>
            <a:ext cx="539496" cy="1563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7E34"/>
                </a:solidFill>
              </a:rPr>
              <a:t>NORMAL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46059" y="7640726"/>
            <a:ext cx="411480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6273"/>
                </a:solidFill>
              </a:rPr>
              <a:t>66.8%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721132" y="7640726"/>
            <a:ext cx="530352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B5FA8"/>
                </a:solidFill>
              </a:rPr>
              <a:t>▲ +2.00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80283" y="7883956"/>
            <a:ext cx="611733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2633"/>
                </a:solidFill>
              </a:rPr>
              <a:t>Yosocuta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80283" y="7989112"/>
            <a:ext cx="960120" cy="1408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4A6273"/>
                </a:solidFill>
              </a:rPr>
              <a:t>Oaxaca · Río Mixteco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468051" y="7932420"/>
            <a:ext cx="502920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52633"/>
                </a:solidFill>
              </a:rPr>
              <a:t>103.1%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4867229" y="7937906"/>
            <a:ext cx="490118" cy="1563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A50E0E"/>
                </a:solidFill>
              </a:rPr>
              <a:t>ALERTA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09483" y="7932420"/>
            <a:ext cx="484632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6273"/>
                </a:solidFill>
              </a:rPr>
              <a:t>101.6%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721132" y="7932420"/>
            <a:ext cx="530352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B5FA8"/>
                </a:solidFill>
              </a:rPr>
              <a:t>▲ +1.50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80283" y="8166506"/>
            <a:ext cx="2066544" cy="1719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2633"/>
                </a:solidFill>
              </a:rPr>
              <a:t>Revolución Mexicana (El Guineo)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180283" y="8280806"/>
            <a:ext cx="961948" cy="1408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4A6273"/>
                </a:solidFill>
              </a:rPr>
              <a:t>Guerrero · Río Nexpa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468051" y="8225028"/>
            <a:ext cx="502920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52633"/>
                </a:solidFill>
              </a:rPr>
              <a:t>104.1%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4867229" y="8229600"/>
            <a:ext cx="490118" cy="1563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A50E0E"/>
                </a:solidFill>
              </a:rPr>
              <a:t>ALERTA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46059" y="8225028"/>
            <a:ext cx="411480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6273"/>
                </a:solidFill>
              </a:rPr>
              <a:t>94.9%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721132" y="8225028"/>
            <a:ext cx="530352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B5FA8"/>
                </a:solidFill>
              </a:rPr>
              <a:t>▲ +9.20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80283" y="8459114"/>
            <a:ext cx="228600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2633"/>
                </a:solidFill>
              </a:rPr>
              <a:t>La Angostura (Belisario Domínguez)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180283" y="8565184"/>
            <a:ext cx="987552" cy="149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4A6273"/>
                </a:solidFill>
              </a:rPr>
              <a:t>Chiapas · Río Grijalva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468051" y="8516721"/>
            <a:ext cx="502920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52633"/>
                </a:solidFill>
              </a:rPr>
              <a:t>47.85%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4842540" y="8521293"/>
            <a:ext cx="539496" cy="1563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7E34"/>
                </a:solidFill>
              </a:rPr>
              <a:t>NORMAL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09483" y="8516721"/>
            <a:ext cx="484632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6273"/>
                </a:solidFill>
              </a:rPr>
              <a:t>47.85%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626035" y="8507577"/>
            <a:ext cx="722376" cy="1719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4A6273"/>
                </a:solidFill>
              </a:rPr>
              <a:t>sin cambio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80283" y="8750808"/>
            <a:ext cx="2189073" cy="1719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2633"/>
                </a:solidFill>
              </a:rPr>
              <a:t>Chicoasén (Manuel Moreno Torres)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180283" y="8857792"/>
            <a:ext cx="987552" cy="149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4A6273"/>
                </a:solidFill>
              </a:rPr>
              <a:t>Chiapas · Río Grijalva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468051" y="8808415"/>
            <a:ext cx="502920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52633"/>
                </a:solidFill>
              </a:rPr>
              <a:t>97.61%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4867229" y="8813901"/>
            <a:ext cx="490118" cy="1563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A50E0E"/>
                </a:solidFill>
              </a:rPr>
              <a:t>ALERTA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09483" y="8808415"/>
            <a:ext cx="484632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6273"/>
                </a:solidFill>
              </a:rPr>
              <a:t>97.61%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2626035" y="8799271"/>
            <a:ext cx="722376" cy="1719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4A6273"/>
                </a:solidFill>
              </a:rPr>
              <a:t>sin cambio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180283" y="9042501"/>
            <a:ext cx="1700784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2633"/>
                </a:solidFill>
              </a:rPr>
              <a:t>Malpaso (Netzahualcóyotl)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180283" y="9149486"/>
            <a:ext cx="987552" cy="149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4A6273"/>
                </a:solidFill>
              </a:rPr>
              <a:t>Chiapas · Río Grijalva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468051" y="9101023"/>
            <a:ext cx="502920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52633"/>
                </a:solidFill>
              </a:rPr>
              <a:t>57.43%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4842540" y="9105595"/>
            <a:ext cx="539496" cy="1563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7E34"/>
                </a:solidFill>
              </a:rPr>
              <a:t>NORMAL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209483" y="9101023"/>
            <a:ext cx="484632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6273"/>
                </a:solidFill>
              </a:rPr>
              <a:t>57.43%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626035" y="9091879"/>
            <a:ext cx="722376" cy="1719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4A6273"/>
                </a:solidFill>
              </a:rPr>
              <a:t>sin cambio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180283" y="9325965"/>
            <a:ext cx="1819656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2633"/>
                </a:solidFill>
              </a:rPr>
              <a:t>Peñitas (Ángel Albino Corzo)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180283" y="9441180"/>
            <a:ext cx="987552" cy="149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4A6273"/>
                </a:solidFill>
              </a:rPr>
              <a:t>Chiapas · Río Grijalva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468051" y="9392716"/>
            <a:ext cx="502920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52633"/>
                </a:solidFill>
              </a:rPr>
              <a:t>83.25%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4842540" y="9397288"/>
            <a:ext cx="539496" cy="1563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7E34"/>
                </a:solidFill>
              </a:rPr>
              <a:t>NORMAL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209483" y="9392716"/>
            <a:ext cx="484632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6273"/>
                </a:solidFill>
              </a:rPr>
              <a:t>83.25%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626035" y="9383572"/>
            <a:ext cx="722376" cy="1719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4A6273"/>
                </a:solidFill>
              </a:rPr>
              <a:t>sin cambio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180283" y="9626803"/>
            <a:ext cx="1581912" cy="1719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2633"/>
                </a:solidFill>
              </a:rPr>
              <a:t>El Portillo (Juan Sabines)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180283" y="9733788"/>
            <a:ext cx="1216152" cy="149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4A6273"/>
                </a:solidFill>
              </a:rPr>
              <a:t>Chiapas · Río Cuxtepeques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468051" y="9684410"/>
            <a:ext cx="502920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52633"/>
                </a:solidFill>
              </a:rPr>
              <a:t>60.01%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4842540" y="9689896"/>
            <a:ext cx="539496" cy="1563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7E34"/>
                </a:solidFill>
              </a:rPr>
              <a:t>NORMAL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209483" y="9684410"/>
            <a:ext cx="484632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6273"/>
                </a:solidFill>
              </a:rPr>
              <a:t>60.01%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626035" y="9675266"/>
            <a:ext cx="722376" cy="1719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4A6273"/>
                </a:solidFill>
              </a:rPr>
              <a:t>sin cambio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180283" y="9918496"/>
            <a:ext cx="1530705" cy="1719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2633"/>
                </a:solidFill>
              </a:rPr>
              <a:t>Rosendo Salazar (Tolán)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180283" y="10025481"/>
            <a:ext cx="1069848" cy="149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4A6273"/>
                </a:solidFill>
              </a:rPr>
              <a:t>Chiapas · Río Cintalapa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504627" y="9977018"/>
            <a:ext cx="429768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52633"/>
                </a:solidFill>
              </a:rPr>
              <a:t>44.7%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4842540" y="9981590"/>
            <a:ext cx="539496" cy="1563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7E34"/>
                </a:solidFill>
              </a:rPr>
              <a:t>NORMAL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246059" y="9977018"/>
            <a:ext cx="411480" cy="1627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6273"/>
                </a:solidFill>
              </a:rPr>
              <a:t>44.7%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2626035" y="9967874"/>
            <a:ext cx="722376" cy="1719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4A6273"/>
                </a:solidFill>
              </a:rPr>
              <a:t>sin cambio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214116" y="89611"/>
            <a:ext cx="11859768" cy="3319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152633"/>
                </a:solidFill>
              </a:rPr>
              <a:t>ZONA JURISDICCIONAL ESTACIÓN DE INVESTIGACIÓN OCEANOGRÁFICA DE SALINA CRUZ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791809" y="544068"/>
            <a:ext cx="6705295" cy="2221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52633"/>
                </a:solidFill>
              </a:rPr>
              <a:t>(DESDE EL MORRO PAPANOA, GRO. ↔ PUERTO MADERO, CHIAPAS, CHIS.)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577339" y="1231696"/>
            <a:ext cx="192024" cy="245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E7E34"/>
                </a:solidFill>
              </a:rPr>
              <a:t>8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243584" y="1491386"/>
            <a:ext cx="859536" cy="1472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1" i="0">
                <a:solidFill>
                  <a:srgbClr val="1E7E34"/>
                </a:solidFill>
              </a:rPr>
              <a:t>NORMAL (0–89%)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534156" y="1231696"/>
            <a:ext cx="192024" cy="245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8A6D00"/>
                </a:solidFill>
              </a:rP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073298" y="1486814"/>
            <a:ext cx="1112824" cy="1563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1" i="0">
                <a:solidFill>
                  <a:srgbClr val="8A6D00"/>
                </a:solidFill>
              </a:rPr>
              <a:t>PRECAUCIÓN (90–94%)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490972" y="1231696"/>
            <a:ext cx="192024" cy="245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A50E0E"/>
                </a:solidFill>
              </a:rP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202936" y="1491386"/>
            <a:ext cx="767181" cy="1472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30" b="1" i="0">
                <a:solidFill>
                  <a:srgbClr val="A50E0E"/>
                </a:solidFill>
              </a:rPr>
              <a:t>ALERTA (95%+)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002328" y="10717682"/>
            <a:ext cx="1584655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52633"/>
                </a:solidFill>
              </a:rPr>
              <a:t>Guerrero / Oaxaca / Chiapas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002328" y="10890504"/>
            <a:ext cx="905256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52633"/>
                </a:solidFill>
              </a:rPr>
              <a:t>Ríos principales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049670" y="10717682"/>
            <a:ext cx="1834286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52633"/>
                </a:solidFill>
              </a:rPr>
              <a:t>Ríos de presas (recorrido aprox.)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049670" y="10890504"/>
            <a:ext cx="1301191" cy="1719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52633"/>
                </a:solidFill>
              </a:rPr>
              <a:t>Presa: normal (0–89%)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347557" y="10717682"/>
            <a:ext cx="1602943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52633"/>
                </a:solidFill>
              </a:rPr>
              <a:t>Presa: precaución (90–94%)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347557" y="10890504"/>
            <a:ext cx="1193292" cy="1719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52633"/>
                </a:solidFill>
              </a:rPr>
              <a:t>Presa: alerta (95%+)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414101" y="10717682"/>
            <a:ext cx="153162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52633"/>
                </a:solidFill>
              </a:rPr>
              <a:t>Sede de Región Naval (RN)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414101" y="10890504"/>
            <a:ext cx="950976" cy="1719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52633"/>
                </a:solidFill>
              </a:rPr>
              <a:t>Zona Naval (ZN)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2408408" y="10717682"/>
            <a:ext cx="1995220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52633"/>
                </a:solidFill>
              </a:rPr>
              <a:t>Jurisdicción RN-8 Acapulco (aprox.)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408408" y="10890504"/>
            <a:ext cx="2179929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152633"/>
                </a:solidFill>
              </a:rPr>
              <a:t>Jurisdicción RN-10 Salina Cruz (aprox.)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